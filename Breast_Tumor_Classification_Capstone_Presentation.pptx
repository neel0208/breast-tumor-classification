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Count Distribution</a:t>
            </a:r>
          </a:p>
        </c:rich>
      </c:tx>
      <c:layout>
        <c:manualLayout>
          <c:xMode val="edge"/>
          <c:yMode val="edge"/>
          <c:x val="0.54017326781520736"/>
          <c:y val="0.351244175399564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7139956067869682"/>
          <c:y val="0.50130084912056061"/>
          <c:w val="0.4945037619725452"/>
          <c:h val="0.30407598013600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Benign</c:v>
                </c:pt>
                <c:pt idx="1">
                  <c:v>Malignant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357</c:v>
                </c:pt>
                <c:pt idx="1">
                  <c:v>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F7-4E4C-9CE8-7EDE40D039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10175"/>
        <c:axId val="1973787792"/>
      </c:barChart>
      <c:catAx>
        <c:axId val="2010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787792"/>
        <c:crosses val="autoZero"/>
        <c:auto val="1"/>
        <c:lblAlgn val="ctr"/>
        <c:lblOffset val="100"/>
        <c:noMultiLvlLbl val="0"/>
      </c:catAx>
      <c:valAx>
        <c:axId val="1973787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0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91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8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57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507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496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11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82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9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20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4423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999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50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552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930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73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16E3C90-033F-4B63-AC3B-10322DF6F64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C62EB-B95B-4821-B934-4A55BE075E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5148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A386-918C-A47A-F88C-ACCB3464F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06" y="1219200"/>
            <a:ext cx="9086325" cy="1330093"/>
          </a:xfrm>
        </p:spPr>
        <p:txBody>
          <a:bodyPr/>
          <a:lstStyle/>
          <a:p>
            <a:r>
              <a:rPr lang="en-IN" sz="3200" dirty="0"/>
              <a:t>Breast </a:t>
            </a:r>
            <a:r>
              <a:rPr lang="en-IN" sz="3200" dirty="0" err="1"/>
              <a:t>Tumor</a:t>
            </a:r>
            <a:r>
              <a:rPr lang="en-IN" sz="3200" dirty="0"/>
              <a:t> Classification with Random Forest + Pattern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8EB75-39A2-09F1-768A-FC8C1558A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9506" y="3877998"/>
            <a:ext cx="8825658" cy="1864434"/>
          </a:xfrm>
        </p:spPr>
        <p:txBody>
          <a:bodyPr>
            <a:normAutofit fontScale="55000" lnSpcReduction="20000"/>
          </a:bodyPr>
          <a:lstStyle/>
          <a:p>
            <a:r>
              <a:rPr lang="en-IN" sz="5000" b="1" dirty="0"/>
              <a:t>UCI Breast Cancer Wisconsin (Diagnostic)</a:t>
            </a:r>
            <a:endParaRPr lang="en-IN" sz="5000" dirty="0"/>
          </a:p>
          <a:p>
            <a:r>
              <a:rPr lang="en-IN" sz="3600" b="1" dirty="0"/>
              <a:t>Individual Capstone Project</a:t>
            </a:r>
            <a:endParaRPr lang="en-IN" sz="3600" dirty="0"/>
          </a:p>
          <a:p>
            <a:r>
              <a:rPr lang="en-IN" sz="3600" b="1" dirty="0"/>
              <a:t>Presented by: Nilesh Shirke</a:t>
            </a:r>
            <a:endParaRPr lang="en-IN" sz="3600" dirty="0"/>
          </a:p>
          <a:p>
            <a:r>
              <a:rPr lang="en-IN" sz="3600" b="1" dirty="0"/>
              <a:t>Model: Random Forest Classifier</a:t>
            </a:r>
            <a:endParaRPr lang="en-IN" sz="3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434508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23D4-5A9C-74A7-B4EF-53A32B49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63B07-81DF-B865-6536-3BD638DFC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Problem Statement</a:t>
            </a:r>
            <a:endParaRPr lang="en-IN" dirty="0"/>
          </a:p>
          <a:p>
            <a:pPr lvl="0"/>
            <a:r>
              <a:rPr lang="en-IN" sz="1800" dirty="0"/>
              <a:t>Classify </a:t>
            </a:r>
            <a:r>
              <a:rPr lang="en-IN" sz="1800" dirty="0" err="1"/>
              <a:t>tumor</a:t>
            </a:r>
            <a:r>
              <a:rPr lang="en-IN" sz="1800" dirty="0"/>
              <a:t> observations as </a:t>
            </a:r>
            <a:r>
              <a:rPr lang="en-IN" sz="1800" b="1" dirty="0"/>
              <a:t>Malignant (M)</a:t>
            </a:r>
            <a:r>
              <a:rPr lang="en-IN" sz="1800" dirty="0"/>
              <a:t> or </a:t>
            </a:r>
            <a:r>
              <a:rPr lang="en-IN" sz="1800" b="1" dirty="0"/>
              <a:t>Benign (B)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Use </a:t>
            </a:r>
            <a:r>
              <a:rPr lang="en-IN" sz="1800" b="1" dirty="0"/>
              <a:t>30 diagnostic measurements</a:t>
            </a:r>
            <a:r>
              <a:rPr lang="en-IN" sz="1800" dirty="0"/>
              <a:t> from the UCI WDBC dataset </a:t>
            </a:r>
          </a:p>
          <a:p>
            <a:pPr lvl="0"/>
            <a:r>
              <a:rPr lang="en-IN" sz="1800" dirty="0"/>
              <a:t>Build a reproducible </a:t>
            </a:r>
            <a:r>
              <a:rPr lang="en-IN" sz="1800" b="1" dirty="0"/>
              <a:t>Random Forest Classifier</a:t>
            </a:r>
            <a:r>
              <a:rPr lang="en-IN" sz="1800" dirty="0"/>
              <a:t> </a:t>
            </a:r>
          </a:p>
          <a:p>
            <a:pPr marL="0" indent="0">
              <a:buNone/>
            </a:pPr>
            <a:r>
              <a:rPr lang="en-IN" b="1" dirty="0"/>
              <a:t>Objectives</a:t>
            </a:r>
            <a:endParaRPr lang="en-IN" dirty="0"/>
          </a:p>
          <a:p>
            <a:pPr lvl="0"/>
            <a:r>
              <a:rPr lang="en-IN" sz="1800" dirty="0"/>
              <a:t>Perform data validation and preprocessing </a:t>
            </a:r>
          </a:p>
          <a:p>
            <a:pPr lvl="0"/>
            <a:r>
              <a:rPr lang="en-IN" sz="1800" dirty="0"/>
              <a:t>Tune the Random Forest using </a:t>
            </a:r>
            <a:r>
              <a:rPr lang="en-IN" sz="1800" b="1" dirty="0" err="1"/>
              <a:t>GridSearchCV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Evaluate using </a:t>
            </a:r>
            <a:r>
              <a:rPr lang="en-IN" sz="1800" b="1" dirty="0"/>
              <a:t>ROC-AUC, Recall, Precision and F1</a:t>
            </a:r>
            <a:r>
              <a:rPr lang="en-IN" sz="1800" dirty="0"/>
              <a:t> </a:t>
            </a:r>
          </a:p>
          <a:p>
            <a:pPr lvl="0"/>
            <a:r>
              <a:rPr lang="en-IN" sz="1800" dirty="0" err="1"/>
              <a:t>Analyze</a:t>
            </a:r>
            <a:r>
              <a:rPr lang="en-IN" sz="1800" dirty="0"/>
              <a:t> false positives and false negatives </a:t>
            </a:r>
          </a:p>
          <a:p>
            <a:pPr lvl="0"/>
            <a:r>
              <a:rPr lang="en-IN" sz="1800" dirty="0"/>
              <a:t>Perform </a:t>
            </a:r>
            <a:r>
              <a:rPr lang="en-IN" sz="1800" b="1" dirty="0"/>
              <a:t>K-Means and Hierarchical Clustering</a:t>
            </a:r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26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3D60-17D5-1EDC-148B-C839E8110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BE027-1BE2-3425-E379-1327360B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UCI Breast Cancer Wisconsin (Diagnostic)</a:t>
            </a:r>
            <a:endParaRPr lang="en-IN" dirty="0"/>
          </a:p>
          <a:p>
            <a:pPr lvl="0"/>
            <a:r>
              <a:rPr lang="en-IN" b="1" dirty="0"/>
              <a:t>569 observations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30 real-valued diagnostic features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Target: </a:t>
            </a:r>
            <a:r>
              <a:rPr lang="en-IN" b="1" dirty="0"/>
              <a:t>Diagnosis — Malignant (M) / Benign (B)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No missing values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ID column excluded from model training </a:t>
            </a:r>
          </a:p>
          <a:p>
            <a:pPr lvl="0"/>
            <a:r>
              <a:rPr lang="en-IN" b="1" dirty="0"/>
              <a:t>357 Benign (62.74%)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212 Malignant (37.26%)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5D4F672-EFFB-89E5-4A66-9DDD5208CB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0012735"/>
              </p:ext>
            </p:extLst>
          </p:nvPr>
        </p:nvGraphicFramePr>
        <p:xfrm>
          <a:off x="5586984" y="822960"/>
          <a:ext cx="6080760" cy="4736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241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31AE-0DF7-174D-7F45-D545341F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Preparation &amp;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4DD6A-6F80-03B8-6FBE-2818FAA5A7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Data Preparation</a:t>
            </a:r>
          </a:p>
          <a:p>
            <a:pPr marL="0" indent="0">
              <a:buNone/>
            </a:pPr>
            <a:r>
              <a:rPr lang="en-IN" b="1" dirty="0"/>
              <a:t>Preprocessing</a:t>
            </a:r>
            <a:endParaRPr lang="en-IN" dirty="0"/>
          </a:p>
          <a:p>
            <a:pPr lvl="0"/>
            <a:r>
              <a:rPr lang="en-IN" dirty="0"/>
              <a:t>Removed the </a:t>
            </a:r>
            <a:r>
              <a:rPr lang="en-IN" b="1" dirty="0"/>
              <a:t>ID</a:t>
            </a:r>
            <a:r>
              <a:rPr lang="en-IN" dirty="0"/>
              <a:t> column </a:t>
            </a:r>
          </a:p>
          <a:p>
            <a:pPr lvl="0"/>
            <a:r>
              <a:rPr lang="en-IN" dirty="0"/>
              <a:t>Encoded </a:t>
            </a:r>
            <a:r>
              <a:rPr lang="en-IN" b="1" dirty="0"/>
              <a:t>B = 0, M = 1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Stratified </a:t>
            </a:r>
            <a:r>
              <a:rPr lang="en-IN" b="1" dirty="0"/>
              <a:t>80% / 10% / 10%</a:t>
            </a:r>
            <a:r>
              <a:rPr lang="en-IN" dirty="0"/>
              <a:t> Train/Validation/Test split </a:t>
            </a:r>
          </a:p>
          <a:p>
            <a:pPr lvl="0"/>
            <a:r>
              <a:rPr lang="en-IN" dirty="0"/>
              <a:t>Random seed: </a:t>
            </a:r>
            <a:r>
              <a:rPr lang="en-IN" b="1" dirty="0"/>
              <a:t>42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StandardScaler</a:t>
            </a:r>
            <a:r>
              <a:rPr lang="en-IN" dirty="0"/>
              <a:t> used for </a:t>
            </a:r>
            <a:r>
              <a:rPr lang="en-IN" b="1" dirty="0"/>
              <a:t>clustering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No observations removed as statistical outliers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2D980-B965-211B-E516-A6D136115D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EDA Findings</a:t>
            </a:r>
          </a:p>
          <a:p>
            <a:pPr marL="0" indent="0">
              <a:buNone/>
            </a:pPr>
            <a:r>
              <a:rPr lang="en-IN" b="1" dirty="0"/>
              <a:t>Key EDA Findings</a:t>
            </a:r>
            <a:endParaRPr lang="en-IN" dirty="0"/>
          </a:p>
          <a:p>
            <a:pPr lvl="0"/>
            <a:r>
              <a:rPr lang="en-IN" dirty="0"/>
              <a:t>No missing values </a:t>
            </a:r>
          </a:p>
          <a:p>
            <a:pPr lvl="0"/>
            <a:r>
              <a:rPr lang="en-IN" dirty="0"/>
              <a:t>No duplicate observations </a:t>
            </a:r>
          </a:p>
          <a:p>
            <a:pPr lvl="0"/>
            <a:r>
              <a:rPr lang="en-IN" dirty="0"/>
              <a:t>Class distribution: </a:t>
            </a:r>
            <a:r>
              <a:rPr lang="en-IN" b="1" dirty="0"/>
              <a:t>357 B / 212 M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Strong correlations among several size-related features </a:t>
            </a:r>
          </a:p>
          <a:p>
            <a:pPr lvl="0"/>
            <a:r>
              <a:rPr lang="en-IN" dirty="0"/>
              <a:t>All </a:t>
            </a:r>
            <a:r>
              <a:rPr lang="en-IN" b="1" dirty="0"/>
              <a:t>30 diagnostic features</a:t>
            </a:r>
            <a:r>
              <a:rPr lang="en-IN" dirty="0"/>
              <a:t> retained 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5056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2388-9D8B-16BF-81FC-0FA78DC87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Forest Model &amp; 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A4BDD-4524-8AB1-9125-A3A8A6C13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Model</a:t>
            </a:r>
            <a:endParaRPr lang="en-IN" dirty="0"/>
          </a:p>
          <a:p>
            <a:pPr lvl="0"/>
            <a:r>
              <a:rPr lang="en-IN" sz="1800" dirty="0"/>
              <a:t>Single </a:t>
            </a:r>
            <a:r>
              <a:rPr lang="en-IN" sz="1800" b="1" dirty="0"/>
              <a:t>Random Forest Classifier</a:t>
            </a:r>
            <a:r>
              <a:rPr lang="en-IN" sz="1800" dirty="0"/>
              <a:t> </a:t>
            </a:r>
          </a:p>
          <a:p>
            <a:pPr lvl="0"/>
            <a:r>
              <a:rPr lang="en-IN" sz="1800" dirty="0" err="1"/>
              <a:t>random_state</a:t>
            </a:r>
            <a:r>
              <a:rPr lang="en-IN" sz="1800" dirty="0"/>
              <a:t> = 42 </a:t>
            </a:r>
          </a:p>
          <a:p>
            <a:pPr lvl="0"/>
            <a:r>
              <a:rPr lang="en-IN" sz="1800" dirty="0" err="1"/>
              <a:t>class_weight</a:t>
            </a:r>
            <a:r>
              <a:rPr lang="en-IN" sz="1800" dirty="0"/>
              <a:t> = "balanced</a:t>
            </a:r>
            <a:r>
              <a:rPr lang="en-IN" dirty="0"/>
              <a:t>" </a:t>
            </a:r>
          </a:p>
          <a:p>
            <a:pPr marL="0" indent="0">
              <a:buNone/>
            </a:pPr>
            <a:r>
              <a:rPr lang="en-IN" b="1" dirty="0"/>
              <a:t>Hyperparameter Tuning</a:t>
            </a:r>
            <a:endParaRPr lang="en-IN" dirty="0"/>
          </a:p>
          <a:p>
            <a:pPr lvl="0"/>
            <a:r>
              <a:rPr lang="en-IN" sz="1800" b="1" dirty="0" err="1"/>
              <a:t>GridSearchCV</a:t>
            </a:r>
            <a:r>
              <a:rPr lang="en-IN" sz="1800" dirty="0"/>
              <a:t> </a:t>
            </a:r>
          </a:p>
          <a:p>
            <a:pPr lvl="0"/>
            <a:r>
              <a:rPr lang="en-IN" sz="1800" b="1" dirty="0"/>
              <a:t>5-fold cross-validation</a:t>
            </a:r>
            <a:r>
              <a:rPr lang="en-IN" sz="1800" dirty="0"/>
              <a:t> </a:t>
            </a:r>
          </a:p>
          <a:p>
            <a:pPr lvl="0"/>
            <a:r>
              <a:rPr lang="en-IN" sz="1800" b="1" dirty="0"/>
              <a:t>648 parameter combinations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Selection criterion: </a:t>
            </a:r>
            <a:r>
              <a:rPr lang="en-IN" sz="1800" b="1" dirty="0"/>
              <a:t>ROC-AUC</a:t>
            </a:r>
            <a:r>
              <a:rPr lang="en-IN" sz="1800" dirty="0"/>
              <a:t> </a:t>
            </a:r>
          </a:p>
          <a:p>
            <a:pPr lvl="0"/>
            <a:r>
              <a:rPr lang="en-IN" sz="1800" dirty="0"/>
              <a:t>Malignant recall considered during model selection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6D90E2-2E75-DDB3-0B64-A15F53AAE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259168"/>
              </p:ext>
            </p:extLst>
          </p:nvPr>
        </p:nvGraphicFramePr>
        <p:xfrm>
          <a:off x="7671816" y="2386583"/>
          <a:ext cx="4315968" cy="3566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189979121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1799321042"/>
                    </a:ext>
                  </a:extLst>
                </a:gridCol>
              </a:tblGrid>
              <a:tr h="36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Final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284032"/>
                  </a:ext>
                </a:extLst>
              </a:tr>
              <a:tr h="36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n_estimators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897524"/>
                  </a:ext>
                </a:extLst>
              </a:tr>
              <a:tr h="36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max_depth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556843"/>
                  </a:ext>
                </a:extLst>
              </a:tr>
              <a:tr h="63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min_samples_split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803592"/>
                  </a:ext>
                </a:extLst>
              </a:tr>
              <a:tr h="634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min_samples_leaf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39681"/>
                  </a:ext>
                </a:extLst>
              </a:tr>
              <a:tr h="599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max_features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12459"/>
                  </a:ext>
                </a:extLst>
              </a:tr>
              <a:tr h="599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class_weight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balanced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907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73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6F9B-EE15-2328-3A58-BCD548420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Model Evaluation — Test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4C45-4737-278B-80F5-F3329DDBB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Performance</a:t>
            </a:r>
            <a:endParaRPr lang="en-IN" dirty="0"/>
          </a:p>
          <a:p>
            <a:pPr lvl="0"/>
            <a:r>
              <a:rPr lang="en-IN" sz="1900" b="1" dirty="0"/>
              <a:t>Accuracy: 96.49%</a:t>
            </a:r>
            <a:r>
              <a:rPr lang="en-IN" sz="1900" dirty="0"/>
              <a:t> </a:t>
            </a:r>
          </a:p>
          <a:p>
            <a:pPr lvl="0"/>
            <a:r>
              <a:rPr lang="en-IN" sz="1900" b="1" dirty="0"/>
              <a:t>Precision: 100.00%</a:t>
            </a:r>
            <a:r>
              <a:rPr lang="en-IN" sz="1900" dirty="0"/>
              <a:t> </a:t>
            </a:r>
          </a:p>
          <a:p>
            <a:pPr lvl="0"/>
            <a:r>
              <a:rPr lang="en-IN" sz="1900" b="1" dirty="0"/>
              <a:t>Malignant Recall: 90.48%</a:t>
            </a:r>
            <a:r>
              <a:rPr lang="en-IN" sz="1900" dirty="0"/>
              <a:t> </a:t>
            </a:r>
          </a:p>
          <a:p>
            <a:pPr lvl="0"/>
            <a:r>
              <a:rPr lang="en-IN" sz="1900" b="1" dirty="0"/>
              <a:t>F1 Score: 95.00%</a:t>
            </a:r>
            <a:r>
              <a:rPr lang="en-IN" sz="1900" dirty="0"/>
              <a:t> </a:t>
            </a:r>
          </a:p>
          <a:p>
            <a:pPr lvl="0"/>
            <a:r>
              <a:rPr lang="en-IN" sz="1900" b="1" dirty="0"/>
              <a:t>ROC-AUC: 99.74%</a:t>
            </a:r>
            <a:r>
              <a:rPr lang="en-IN" sz="1900" dirty="0"/>
              <a:t> </a:t>
            </a:r>
          </a:p>
          <a:p>
            <a:pPr marL="0" indent="0">
              <a:buNone/>
            </a:pPr>
            <a:r>
              <a:rPr lang="en-IN" b="1" dirty="0"/>
              <a:t>Confusion Matrix</a:t>
            </a:r>
            <a:endParaRPr lang="en-IN" dirty="0"/>
          </a:p>
          <a:p>
            <a:pPr lvl="0"/>
            <a:r>
              <a:rPr lang="en-IN" sz="1900" b="1" dirty="0"/>
              <a:t>True Negatives: 36 </a:t>
            </a:r>
          </a:p>
          <a:p>
            <a:pPr lvl="0"/>
            <a:r>
              <a:rPr lang="en-IN" sz="1900" b="1" dirty="0"/>
              <a:t>False Positives: 0 </a:t>
            </a:r>
          </a:p>
          <a:p>
            <a:pPr lvl="0"/>
            <a:r>
              <a:rPr lang="en-IN" sz="1900" b="1" dirty="0"/>
              <a:t>False Negatives: 2 </a:t>
            </a:r>
          </a:p>
          <a:p>
            <a:pPr lvl="0"/>
            <a:r>
              <a:rPr lang="en-IN" sz="1900" b="1" dirty="0"/>
              <a:t>True Positives: 19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4A088-C949-C11A-B1A7-9F906D2FE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092" y="2052918"/>
            <a:ext cx="4930567" cy="38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81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44B8-81E9-1B20-89B3-EC20A0F4F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Threshold Decision &amp; Error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20E9B-48CF-2E12-D3B8-0FEF034F0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73352"/>
            <a:ext cx="9116568" cy="473193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300" b="1" dirty="0"/>
              <a:t>Decision Threshold</a:t>
            </a:r>
            <a:endParaRPr lang="en-IN" sz="2300" dirty="0"/>
          </a:p>
          <a:p>
            <a:pPr lvl="0"/>
            <a:r>
              <a:rPr lang="en-IN" sz="2300" dirty="0"/>
              <a:t>Selected threshold: </a:t>
            </a:r>
            <a:r>
              <a:rPr lang="en-IN" sz="2300" b="1" dirty="0"/>
              <a:t>0.50</a:t>
            </a:r>
            <a:r>
              <a:rPr lang="en-IN" sz="2300" dirty="0"/>
              <a:t> </a:t>
            </a:r>
          </a:p>
          <a:p>
            <a:pPr lvl="0"/>
            <a:r>
              <a:rPr lang="en-IN" sz="2300" dirty="0"/>
              <a:t>Lower thresholds did </a:t>
            </a:r>
            <a:r>
              <a:rPr lang="en-IN" sz="2300" b="1" dirty="0"/>
              <a:t>not improve malignant recall</a:t>
            </a:r>
            <a:r>
              <a:rPr lang="en-IN" sz="2300" dirty="0"/>
              <a:t> </a:t>
            </a:r>
          </a:p>
          <a:p>
            <a:pPr lvl="0"/>
            <a:r>
              <a:rPr lang="en-IN" sz="2300" dirty="0"/>
              <a:t>Higher thresholds reduced malignant recall </a:t>
            </a:r>
          </a:p>
          <a:p>
            <a:pPr lvl="0"/>
            <a:endParaRPr lang="en-IN" sz="2300" dirty="0"/>
          </a:p>
          <a:p>
            <a:pPr marL="0" indent="0">
              <a:buNone/>
            </a:pPr>
            <a:r>
              <a:rPr lang="en-IN" sz="2300" b="1" dirty="0"/>
              <a:t>Test-Set Errors</a:t>
            </a:r>
            <a:endParaRPr lang="en-IN" sz="2300" dirty="0"/>
          </a:p>
          <a:p>
            <a:pPr lvl="0"/>
            <a:r>
              <a:rPr lang="en-IN" sz="2300" b="1" dirty="0"/>
              <a:t>False Positives: 0</a:t>
            </a:r>
            <a:r>
              <a:rPr lang="en-IN" sz="2300" dirty="0"/>
              <a:t> </a:t>
            </a:r>
          </a:p>
          <a:p>
            <a:pPr lvl="0"/>
            <a:r>
              <a:rPr lang="en-IN" sz="2300" b="1" dirty="0"/>
              <a:t>False Negatives: 2</a:t>
            </a:r>
            <a:r>
              <a:rPr lang="en-IN" sz="2300" dirty="0"/>
              <a:t> </a:t>
            </a:r>
          </a:p>
          <a:p>
            <a:pPr lvl="0"/>
            <a:r>
              <a:rPr lang="en-IN" sz="2300" dirty="0"/>
              <a:t>Hard cases: </a:t>
            </a:r>
            <a:r>
              <a:rPr lang="en-IN" sz="2300" b="1" dirty="0"/>
              <a:t>2 malignant observations predicted as benign</a:t>
            </a:r>
            <a:r>
              <a:rPr lang="en-IN" sz="2300" dirty="0"/>
              <a:t> </a:t>
            </a:r>
          </a:p>
          <a:p>
            <a:pPr lvl="0"/>
            <a:r>
              <a:rPr lang="en-IN" sz="2300" dirty="0"/>
              <a:t>Size-related features were closer to the benign pattern in these cases </a:t>
            </a:r>
          </a:p>
          <a:p>
            <a:pPr lvl="0"/>
            <a:endParaRPr lang="en-IN" sz="2300" dirty="0"/>
          </a:p>
          <a:p>
            <a:pPr marL="0" indent="0">
              <a:buNone/>
            </a:pPr>
            <a:r>
              <a:rPr lang="en-IN" sz="2300" b="1" dirty="0"/>
              <a:t>Mitigation</a:t>
            </a:r>
            <a:endParaRPr lang="en-IN" sz="2300" dirty="0"/>
          </a:p>
          <a:p>
            <a:pPr lvl="0"/>
            <a:r>
              <a:rPr lang="en-IN" sz="2300" dirty="0"/>
              <a:t>Continue threshold analysis using validation data </a:t>
            </a:r>
          </a:p>
          <a:p>
            <a:pPr lvl="0"/>
            <a:r>
              <a:rPr lang="en-IN" sz="2300" dirty="0"/>
              <a:t>Investigate false-negative feature patterns </a:t>
            </a:r>
          </a:p>
          <a:p>
            <a:pPr lvl="0"/>
            <a:r>
              <a:rPr lang="en-IN" sz="2300" dirty="0"/>
              <a:t>Use repeated stratified validation to assess robustness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762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869C-BEE6-3C7D-9F8F-5926EB33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&amp; Pattern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C769-B4A6-0461-AD31-C1CE0776A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453897"/>
            <a:ext cx="4396339" cy="4802442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K-Means</a:t>
            </a:r>
          </a:p>
          <a:p>
            <a:pPr lvl="0"/>
            <a:r>
              <a:rPr lang="en-IN" dirty="0"/>
              <a:t>Standardized 30 diagnostic features </a:t>
            </a:r>
          </a:p>
          <a:p>
            <a:pPr lvl="0"/>
            <a:r>
              <a:rPr lang="en-IN" dirty="0"/>
              <a:t>Evaluated </a:t>
            </a:r>
            <a:r>
              <a:rPr lang="en-IN" b="1" dirty="0"/>
              <a:t>K = 2 to 10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Elbow method → </a:t>
            </a:r>
            <a:r>
              <a:rPr lang="en-IN" b="1" dirty="0"/>
              <a:t>K = 5</a:t>
            </a:r>
            <a:r>
              <a:rPr lang="en-IN" dirty="0"/>
              <a:t> </a:t>
            </a:r>
          </a:p>
          <a:p>
            <a:pPr lvl="0"/>
            <a:r>
              <a:rPr lang="en-IN" dirty="0" err="1"/>
              <a:t>n_init</a:t>
            </a:r>
            <a:r>
              <a:rPr lang="en-IN" dirty="0"/>
              <a:t> = 10 </a:t>
            </a:r>
          </a:p>
          <a:p>
            <a:pPr lvl="0"/>
            <a:r>
              <a:rPr lang="en-IN" dirty="0" err="1"/>
              <a:t>random_state</a:t>
            </a:r>
            <a:r>
              <a:rPr lang="en-IN" dirty="0"/>
              <a:t> = 42</a:t>
            </a:r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E88B4-D31E-9673-9287-771500503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453896"/>
            <a:ext cx="4396341" cy="4802442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Hierarchical</a:t>
            </a:r>
          </a:p>
          <a:p>
            <a:pPr lvl="0"/>
            <a:r>
              <a:rPr lang="en-IN" b="1" dirty="0"/>
              <a:t>Ward linkage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Dendrogram used to examine grouping structure </a:t>
            </a:r>
          </a:p>
          <a:p>
            <a:pPr lvl="0"/>
            <a:r>
              <a:rPr lang="en-IN" dirty="0"/>
              <a:t>Dendrogram cut to obtain 5 clusters</a:t>
            </a:r>
          </a:p>
          <a:p>
            <a:pPr lvl="0"/>
            <a:r>
              <a:rPr lang="en-IN" dirty="0"/>
              <a:t>Used as an exploratory pattern-analysis method</a:t>
            </a:r>
          </a:p>
          <a:p>
            <a:pPr marL="0" indent="0" algn="ctr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52D17-B50B-6D31-8DDB-101AED4F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46089"/>
            <a:ext cx="4480432" cy="2463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0B422C-D5B2-6CA6-1422-D132A0F64F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149" y="4265229"/>
            <a:ext cx="3846746" cy="242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4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40B0-F5B5-8090-FF85-2CA1A1E8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AC06E-A6AA-8538-F958-70905FF2A0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b="1" dirty="0"/>
              <a:t>Key Findings</a:t>
            </a:r>
          </a:p>
          <a:p>
            <a:pPr lvl="0"/>
            <a:r>
              <a:rPr lang="en-IN" dirty="0"/>
              <a:t>Random Forest achieved 96.49% test accuracy </a:t>
            </a:r>
          </a:p>
          <a:p>
            <a:pPr lvl="0"/>
            <a:r>
              <a:rPr lang="en-IN" dirty="0"/>
              <a:t>99.74% ROC-AUC </a:t>
            </a:r>
          </a:p>
          <a:p>
            <a:pPr lvl="0"/>
            <a:r>
              <a:rPr lang="en-IN" dirty="0"/>
              <a:t>90.48% malignant recall </a:t>
            </a:r>
          </a:p>
          <a:p>
            <a:pPr lvl="0"/>
            <a:r>
              <a:rPr lang="en-IN" dirty="0"/>
              <a:t>0 false positives and 2 false negatives </a:t>
            </a:r>
          </a:p>
          <a:p>
            <a:pPr lvl="0"/>
            <a:r>
              <a:rPr lang="en-IN" dirty="0"/>
              <a:t>Clustering identified 5 exploratory pattern groups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8B7ED-0CD5-DBFB-3461-86A9382111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b="1" dirty="0"/>
              <a:t>Recommendations</a:t>
            </a:r>
          </a:p>
          <a:p>
            <a:pPr lvl="0"/>
            <a:r>
              <a:rPr lang="en-IN" dirty="0"/>
              <a:t>Continue threshold analysis using validation data </a:t>
            </a:r>
          </a:p>
          <a:p>
            <a:pPr lvl="0"/>
            <a:r>
              <a:rPr lang="en-IN" dirty="0"/>
              <a:t>Investigate the two false-negative cases </a:t>
            </a:r>
          </a:p>
          <a:p>
            <a:pPr lvl="0"/>
            <a:r>
              <a:rPr lang="en-IN" dirty="0"/>
              <a:t>Use repeated stratified validation to assess robustness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4210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7509-C112-15EA-C7BE-74D8860E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8EDFC-8AB7-DAA9-8B96-ED04E531F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45336"/>
            <a:ext cx="8946541" cy="47030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b="1" dirty="0"/>
              <a:t>Conclusion</a:t>
            </a:r>
          </a:p>
          <a:p>
            <a:pPr lvl="0"/>
            <a:r>
              <a:rPr lang="en-IN" sz="1600" dirty="0"/>
              <a:t>Built a reproducible </a:t>
            </a:r>
            <a:r>
              <a:rPr lang="en-IN" sz="1600" b="1" dirty="0"/>
              <a:t>Random Forest classification pipeline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Achieved </a:t>
            </a:r>
            <a:r>
              <a:rPr lang="en-IN" sz="1600" b="1" dirty="0"/>
              <a:t>96.49% test accuracy</a:t>
            </a:r>
            <a:r>
              <a:rPr lang="en-IN" sz="1600" dirty="0"/>
              <a:t> and </a:t>
            </a:r>
            <a:r>
              <a:rPr lang="en-IN" sz="1600" b="1" dirty="0"/>
              <a:t>99.74% ROC-AUC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Identified </a:t>
            </a:r>
            <a:r>
              <a:rPr lang="en-IN" sz="1600" b="1" dirty="0"/>
              <a:t>2 false-negative cases</a:t>
            </a:r>
            <a:r>
              <a:rPr lang="en-IN" sz="1600" dirty="0"/>
              <a:t> for further analysis </a:t>
            </a:r>
          </a:p>
          <a:p>
            <a:pPr lvl="0"/>
            <a:r>
              <a:rPr lang="en-IN" sz="1600" dirty="0"/>
              <a:t>Performed K-Means and hierarchical clustering for exploratory pattern analysis </a:t>
            </a:r>
          </a:p>
          <a:p>
            <a:pPr marL="0" indent="0">
              <a:buNone/>
            </a:pPr>
            <a:r>
              <a:rPr lang="en-IN" sz="1600" b="1" dirty="0"/>
              <a:t>Limitations</a:t>
            </a:r>
          </a:p>
          <a:p>
            <a:pPr lvl="0"/>
            <a:r>
              <a:rPr lang="en-IN" sz="1600" dirty="0"/>
              <a:t>Dataset contains only </a:t>
            </a:r>
            <a:r>
              <a:rPr lang="en-IN" sz="1600" b="1" dirty="0"/>
              <a:t>569 observations</a:t>
            </a:r>
            <a:r>
              <a:rPr lang="en-IN" sz="1600" dirty="0"/>
              <a:t> </a:t>
            </a:r>
          </a:p>
          <a:p>
            <a:pPr lvl="0"/>
            <a:r>
              <a:rPr lang="en-IN" sz="1600" dirty="0"/>
              <a:t>Results may not generalize to other datasets or populations </a:t>
            </a:r>
          </a:p>
          <a:p>
            <a:pPr lvl="0"/>
            <a:r>
              <a:rPr lang="en-IN" sz="1600" dirty="0"/>
              <a:t>Clustering results are exploratory </a:t>
            </a:r>
          </a:p>
          <a:p>
            <a:r>
              <a:rPr lang="en-IN" sz="1600" dirty="0"/>
              <a:t>Project is for </a:t>
            </a:r>
            <a:r>
              <a:rPr lang="en-IN" sz="1600" b="1" dirty="0"/>
              <a:t>learning and demonstration</a:t>
            </a:r>
            <a:r>
              <a:rPr lang="en-IN" sz="1600" dirty="0"/>
              <a:t>, not clinical deployment</a:t>
            </a:r>
          </a:p>
          <a:p>
            <a:pPr marL="0" indent="0">
              <a:buNone/>
            </a:pPr>
            <a:r>
              <a:rPr lang="en-IN" sz="1600" b="1" dirty="0"/>
              <a:t>Future Work</a:t>
            </a:r>
            <a:endParaRPr lang="en-IN" sz="1600" dirty="0"/>
          </a:p>
          <a:p>
            <a:pPr lvl="0"/>
            <a:r>
              <a:rPr lang="en-IN" sz="1600" dirty="0"/>
              <a:t>Evaluate on additional datasets </a:t>
            </a:r>
          </a:p>
          <a:p>
            <a:pPr lvl="0"/>
            <a:r>
              <a:rPr lang="en-IN" sz="1600" dirty="0"/>
              <a:t>Assess model calibration and threshold stability </a:t>
            </a:r>
          </a:p>
          <a:p>
            <a:pPr lvl="0"/>
            <a:r>
              <a:rPr lang="en-IN" sz="1600" dirty="0"/>
              <a:t>Explore additional feature-analysis and clustering techniques</a:t>
            </a:r>
          </a:p>
          <a:p>
            <a:pPr lvl="0"/>
            <a:endParaRPr lang="en-IN" sz="16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971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EDB7-CE2F-2371-19D1-2FC44F2F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511" y="2894166"/>
            <a:ext cx="9404723" cy="1400530"/>
          </a:xfrm>
        </p:spPr>
        <p:txBody>
          <a:bodyPr/>
          <a:lstStyle/>
          <a:p>
            <a:r>
              <a:rPr lang="en-US" dirty="0"/>
              <a:t>Thank You…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126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</TotalTime>
  <Words>603</Words>
  <Application>Microsoft Office PowerPoint</Application>
  <PresentationFormat>Widescreen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Breast Tumor Classification with Random Forest + Pattern Segmentation</vt:lpstr>
      <vt:lpstr>Problem Statement &amp; Objective</vt:lpstr>
      <vt:lpstr>Dataset Overview</vt:lpstr>
      <vt:lpstr>Data Preparation &amp; EDA</vt:lpstr>
      <vt:lpstr>Random Forest Model &amp; Hyperparameter Tuning</vt:lpstr>
      <vt:lpstr>Final Model Evaluation — Test Set</vt:lpstr>
      <vt:lpstr>Threshold Decision &amp; Error Analysis</vt:lpstr>
      <vt:lpstr>Clustering &amp; Pattern Segmentation</vt:lpstr>
      <vt:lpstr>Key Findings &amp; Recommendations</vt:lpstr>
      <vt:lpstr>Conclusion &amp; Limitations</vt:lpstr>
      <vt:lpstr>Thank You…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nilesh shirke</dc:creator>
  <cp:lastModifiedBy>nilesh shirke</cp:lastModifiedBy>
  <cp:revision>1</cp:revision>
  <dcterms:created xsi:type="dcterms:W3CDTF">2026-09-20T06:12:29Z</dcterms:created>
  <dcterms:modified xsi:type="dcterms:W3CDTF">2026-09-20T07:15:15Z</dcterms:modified>
</cp:coreProperties>
</file>